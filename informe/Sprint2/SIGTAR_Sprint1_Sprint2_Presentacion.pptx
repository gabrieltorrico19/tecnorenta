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88952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SIGTAR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alibri"/>
              </a:rPr>
              <a:t>Sistema de Gestión y Trazabilidad de Activos Rentados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4A01E"/>
                </a:solidFill>
                <a:latin typeface="Calibri"/>
              </a:rPr>
              <a:t>Tecnorenta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2A4A"/>
                </a:solidFill>
                <a:latin typeface="Calibri"/>
              </a:rPr>
              <a:t>Informe Técnico — Sprint 1 &amp;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4A4A6A"/>
                </a:solidFill>
                <a:latin typeface="Calibri"/>
              </a:rPr>
              <a:t>  Asignatura: Programación de Sistemas II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4A4A6A"/>
                </a:solidFill>
                <a:latin typeface="Calibri"/>
              </a:rPr>
              <a:t>  Docente: Ing. Juan Pérez López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4A4A6A"/>
                </a:solidFill>
                <a:latin typeface="Calibri"/>
              </a:rPr>
              <a:t>  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4A4A6A"/>
                </a:solidFill>
                <a:latin typeface="Calibri"/>
              </a:rPr>
              <a:t>  Estudiantes: Estudiante 1 • Estudiante 2 • Estudiante 3 • Estudiante 4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4A4A6A"/>
                </a:solidFill>
                <a:latin typeface="Calibri"/>
              </a:rPr>
              <a:t>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Sprint Goal General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332720" cy="2286000"/>
          </a:xfrm>
          <a:prstGeom prst="roundRect">
            <a:avLst/>
          </a:prstGeom>
          <a:solidFill>
            <a:srgbClr val="D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B2A4A"/>
                </a:solidFill>
                <a:latin typeface="Calibri"/>
              </a:rPr>
              <a:t>Construir un sistema web funcional para la gestión y trazabilidad de activos rentados, desde la base de datos hasta la interfaz de usuario, aplicando metodología Scrum.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A4A6A"/>
                </a:solidFill>
                <a:latin typeface="Calibri"/>
              </a:rPr>
              <a:t>Metodología: Scrum  |  Duración: 2 Sprints (6 semanas)  |  Equipo: 4 desarrolladores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Sprint 1 —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A4A6A"/>
                </a:solidFill>
                <a:latin typeface="Calibri"/>
              </a:rPr>
              <a:t>Establecer la base del sistema: autenticación, base de datos, API base y frontend inicial.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Base de Datos: </a:t>
            </a:r>
            <a:r>
              <a:rPr sz="1600">
                <a:solidFill>
                  <a:srgbClr val="1A1A2E"/>
                </a:solidFill>
                <a:latin typeface="Calibri"/>
              </a:rPr>
              <a:t>11 tablas modeladas con SQLAlchemy 2.0, migraciones con Alembic, datos de prueba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Autenticación: </a:t>
            </a:r>
            <a:r>
              <a:rPr sz="1600">
                <a:solidFill>
                  <a:srgbClr val="1A1A2E"/>
                </a:solidFill>
                <a:latin typeface="Calibri"/>
              </a:rPr>
              <a:t>JWT + bcrypt, registro y login de usuarios, control de roles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API Base: </a:t>
            </a:r>
            <a:r>
              <a:rPr sz="1600">
                <a:solidFill>
                  <a:srgbClr val="1A1A2E"/>
                </a:solidFill>
                <a:latin typeface="Calibri"/>
              </a:rPr>
              <a:t>FastAPI con 15 routers, documentación Swagger automática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Frontend Inicial: </a:t>
            </a:r>
            <a:r>
              <a:rPr sz="1600">
                <a:solidFill>
                  <a:srgbClr val="1A1A2E"/>
                </a:solidFill>
                <a:latin typeface="Calibri"/>
              </a:rPr>
              <a:t>React 19 + TypeScript, layout con sidebar, contexto de autenticación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Arquitectura: </a:t>
            </a:r>
            <a:r>
              <a:rPr sz="1600">
                <a:solidFill>
                  <a:srgbClr val="1A1A2E"/>
                </a:solidFill>
                <a:latin typeface="Calibri"/>
              </a:rPr>
              <a:t>3 capas: Router → Service → Repository →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Stack Tecnológico — ¿Por qué cada tecnología?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  FastAPI</a:t>
            </a:r>
          </a:p>
          <a:p>
            <a:r>
              <a:rPr sz="1300">
                <a:solidFill>
                  <a:srgbClr val="4A4A6A"/>
                </a:solidFill>
                <a:latin typeface="Calibri"/>
              </a:rPr>
              <a:t>     Framework Python de alto rendimiento. Validación automática con Pydantic y documentación Swagger generada sola. Lo elegimos porque acelera el desarrollo y elimina errores de tipos.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" cy="105156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698480" cy="10515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  Python</a:t>
            </a:r>
          </a:p>
          <a:p>
            <a:r>
              <a:rPr sz="1300">
                <a:solidFill>
                  <a:srgbClr val="4A4A6A"/>
                </a:solidFill>
                <a:latin typeface="Calibri"/>
              </a:rPr>
              <a:t>     Lenguaje de curva de aprendizaje baja, enorme ecosistema para APIs y ciencia de datos. Elegido porque permite a equipos pequeños producir resultados rápido.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109728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  React 19</a:t>
            </a:r>
          </a:p>
          <a:p>
            <a:r>
              <a:rPr sz="1300">
                <a:solidFill>
                  <a:srgbClr val="4A4A6A"/>
                </a:solidFill>
                <a:latin typeface="Calibri"/>
              </a:rPr>
              <a:t>     Biblioteca de componentes reutilizables con Virtual DOM. Lo elegimos porque el frontend se construye como piezas independientes que se actualizan sin recargar la página.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109728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698480" cy="10515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  MySQL + SQLAlchemy</a:t>
            </a:r>
          </a:p>
          <a:p>
            <a:r>
              <a:rPr sz="1300">
                <a:solidFill>
                  <a:srgbClr val="4A4A6A"/>
                </a:solidFill>
                <a:latin typeface="Calibri"/>
              </a:rPr>
              <a:t>     MySQL: motor relacional confiable, transaccional (ACID). SQLAlchemy 2.0: ORM que convierte tablas SQL en objetos Python. Permite cambiar de BD sin modificar código.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6636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Arquitectura — ¿Por qué 3 capas?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A4A6A"/>
                </a:solidFill>
                <a:latin typeface="Calibri"/>
              </a:rPr>
              <a:t>Separación estricta de responsabilidades: cada capa hace solo una cosa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03120"/>
            <a:ext cx="9418320" cy="86868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  Router</a:t>
            </a:r>
          </a:p>
          <a:p>
            <a:r>
              <a:rPr sz="1200">
                <a:solidFill>
                  <a:srgbClr val="FFFFFF"/>
                </a:solidFill>
                <a:latin typeface="Calibri"/>
              </a:rPr>
              <a:t>  Recibe peticiones HTTP, valida parámetros, delega al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54679"/>
            <a:ext cx="9418320" cy="8686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  Service</a:t>
            </a:r>
          </a:p>
          <a:p>
            <a:r>
              <a:rPr sz="1200">
                <a:solidFill>
                  <a:srgbClr val="FFFFFF"/>
                </a:solidFill>
                <a:latin typeface="Calibri"/>
              </a:rPr>
              <a:t>  Lógica de negocio, reglas, coordinación entre repositorios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206240"/>
            <a:ext cx="9418320" cy="8686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  Repository</a:t>
            </a:r>
          </a:p>
          <a:p>
            <a:r>
              <a:rPr sz="1200">
                <a:solidFill>
                  <a:srgbClr val="FFFFFF"/>
                </a:solidFill>
                <a:latin typeface="Calibri"/>
              </a:rPr>
              <a:t>  Consultas a la base de datos, CRUD, filtros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257800"/>
            <a:ext cx="9418320" cy="8686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  Model</a:t>
            </a:r>
          </a:p>
          <a:p>
            <a:r>
              <a:rPr sz="1200">
                <a:solidFill>
                  <a:srgbClr val="FFFFFF"/>
                </a:solidFill>
                <a:latin typeface="Calibri"/>
              </a:rPr>
              <a:t>  Define tablas, relaciones, enums, tipos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86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4A6A"/>
                </a:solidFill>
                <a:latin typeface="Calibri"/>
              </a:rPr>
              <a:t>  Mantenible: cambios en una capa no afectan las otras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4A6A"/>
                </a:solidFill>
                <a:latin typeface="Calibri"/>
              </a:rPr>
              <a:t>  Testable: cada capa se prueba por separado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4A4A6A"/>
                </a:solidFill>
                <a:latin typeface="Calibri"/>
              </a:rPr>
              <a:t>  Escalable: cada capa puede escalar independientemente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Sprint 1 — Base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11 tablas: usuarios, roles, clientes, activos, categorías, contratos, pagos, asignaciones, reportes, mantenimientos, checklist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Relaciones: 1 a muchos (cliente → contratos), muchos a muchos (roles ↔ permisos), herencia (mantenimiento → preventivo/correctivo)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Enums fijos: estado_activo, estado_contrato, estado_pago, gravedad_incidencia — sin strings libres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Auditoría: creado_por, fecha_creacion, modificado_por, fecha_modificacion en tablas críticas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Migraciones: 4 migraciones Alembic (schema inicial, lat/long, fotos, documentos)</a:t>
            </a:r>
          </a:p>
        </p:txBody>
      </p:sp>
      <p:pic>
        <p:nvPicPr>
          <p:cNvPr id="7" name="Picture 6" descr="der_diagr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3657600"/>
            <a:ext cx="7315200" cy="5040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Sprint 2 —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A4A6A"/>
                </a:solidFill>
                <a:latin typeface="Calibri"/>
              </a:rPr>
              <a:t>Implementar todos los módulos CRUD del negocio, dashboard gerencial con KPIs, consultas SQL complejas y documentación de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12 módulos CRUD: </a:t>
            </a:r>
            <a:r>
              <a:rPr sz="1600">
                <a:solidFill>
                  <a:srgbClr val="1A1A2E"/>
                </a:solidFill>
                <a:latin typeface="Calibri"/>
              </a:rPr>
              <a:t>usuarios, roles, clientes, activos, categorías, contratos, pagos, asignaciones, reportes, mantenimientos, historial, checklist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Dashboard gerencial: </a:t>
            </a:r>
            <a:r>
              <a:rPr sz="1600">
                <a:solidFill>
                  <a:srgbClr val="1A1A2E"/>
                </a:solidFill>
                <a:latin typeface="Calibri"/>
              </a:rPr>
              <a:t>7 KPIs, 2 gráficos (barras + pastel), alertas de contratos próximos a vencer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6 consultas SQL complejas: </a:t>
            </a:r>
            <a:r>
              <a:rPr sz="1600">
                <a:solidFill>
                  <a:srgbClr val="1A1A2E"/>
                </a:solidFill>
                <a:latin typeface="Calibri"/>
              </a:rPr>
              <a:t>GROUP BY, JOINs, COUNT, SUM, subconsultas con fechas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API documentada: </a:t>
            </a:r>
            <a:r>
              <a:rPr sz="1600">
                <a:solidFill>
                  <a:srgbClr val="1A1A2E"/>
                </a:solidFill>
                <a:latin typeface="Calibri"/>
              </a:rPr>
              <a:t>Swagger UI con 45 endpoints, colección importable a Postman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Mapa + Fotos: </a:t>
            </a:r>
            <a:r>
              <a:rPr sz="1600">
                <a:solidFill>
                  <a:srgbClr val="1A1A2E"/>
                </a:solidFill>
                <a:latin typeface="Calibri"/>
              </a:rPr>
              <a:t>Leaflet para ubicación GPS, cámara/archivo para fotos de activos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Sprint 2 — 12 Módulos CRUD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640080"/>
          </a:xfrm>
          <a:prstGeom prst="roundRect">
            <a:avLst/>
          </a:prstGeom>
          <a:solidFill>
            <a:srgbClr val="D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  1. Usuarios  —  JWT + bcrypt,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640080"/>
          </a:xfrm>
          <a:prstGeom prst="round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  2. Roles  —  Permisos asignables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303520" cy="640080"/>
          </a:xfrm>
          <a:prstGeom prst="roundRect">
            <a:avLst/>
          </a:prstGeom>
          <a:solidFill>
            <a:srgbClr val="D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  3. Clientes  —  NIT, dirección, mapa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40280"/>
            <a:ext cx="5303520" cy="640080"/>
          </a:xfrm>
          <a:prstGeom prst="round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  4. Activos  —  CSV, fotos, mapa GPS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303520" cy="640080"/>
          </a:xfrm>
          <a:prstGeom prst="roundRect">
            <a:avLst/>
          </a:prstGeom>
          <a:solidFill>
            <a:srgbClr val="D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  5. Categorías  —  Jerarquía padre-hijo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017520"/>
            <a:ext cx="5303520" cy="640080"/>
          </a:xfrm>
          <a:prstGeom prst="round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  6. Contratos  —  Documento adjunto</a:t>
            </a:r>
          </a:p>
        </p:txBody>
      </p:sp>
      <p:pic>
        <p:nvPicPr>
          <p:cNvPr id="12" name="Picture 11" descr="activos_l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5029200" cy="2328624"/>
          </a:xfrm>
          <a:prstGeom prst="rect">
            <a:avLst/>
          </a:prstGeom>
        </p:spPr>
      </p:pic>
      <p:pic>
        <p:nvPicPr>
          <p:cNvPr id="13" name="Picture 12" descr="contratos_l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029200" cy="23286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Sprint 2 — Dashboard Gerencial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560320" cy="54864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Usuarios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560320" cy="54864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Clientes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560320" cy="54864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463040"/>
            <a:ext cx="2560320" cy="54864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Contratos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2560320" cy="548640"/>
          </a:xfrm>
          <a:prstGeom prst="round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Ingresos/mes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60"/>
            <a:ext cx="2560320" cy="548640"/>
          </a:xfrm>
          <a:prstGeom prst="round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Próx. vencer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2560320" cy="548640"/>
          </a:xfrm>
          <a:prstGeom prst="round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Incidencias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194560"/>
            <a:ext cx="2560320" cy="548640"/>
          </a:xfrm>
          <a:prstGeom prst="round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Pagos vencidos</a:t>
            </a:r>
          </a:p>
        </p:txBody>
      </p:sp>
      <p:pic>
        <p:nvPicPr>
          <p:cNvPr id="14" name="Picture 1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3108960"/>
            <a:ext cx="10972800" cy="5080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Sprint 2 — 6 Consultas SQL Complejas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1188720"/>
          </a:xfrm>
          <a:prstGeom prst="roundRect">
            <a:avLst/>
          </a:prstGeom>
          <a:solidFill>
            <a:srgbClr val="D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Activos por estado</a:t>
            </a:r>
          </a:p>
          <a:p>
            <a:pPr algn="ctr"/>
            <a:r>
              <a:rPr sz="1200">
                <a:solidFill>
                  <a:srgbClr val="4A4A6A"/>
                </a:solidFill>
                <a:latin typeface="Calibri"/>
              </a:rPr>
              <a:t>GROUP BY → conteo por categoría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463040"/>
            <a:ext cx="3474720" cy="1188720"/>
          </a:xfrm>
          <a:prstGeom prst="roundRect">
            <a:avLst/>
          </a:prstGeom>
          <a:solidFill>
            <a:srgbClr val="D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Contratos por estado</a:t>
            </a:r>
          </a:p>
          <a:p>
            <a:pPr algn="ctr"/>
            <a:r>
              <a:rPr sz="1200">
                <a:solidFill>
                  <a:srgbClr val="4A4A6A"/>
                </a:solidFill>
                <a:latin typeface="Calibri"/>
              </a:rPr>
              <a:t>GROUP BY → distribución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463040"/>
            <a:ext cx="3474720" cy="1188720"/>
          </a:xfrm>
          <a:prstGeom prst="roundRect">
            <a:avLst/>
          </a:prstGeom>
          <a:solidFill>
            <a:srgbClr val="D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Próximos a vencer</a:t>
            </a:r>
          </a:p>
          <a:p>
            <a:pPr algn="ctr"/>
            <a:r>
              <a:rPr sz="1200">
                <a:solidFill>
                  <a:srgbClr val="4A4A6A"/>
                </a:solidFill>
                <a:latin typeface="Calibri"/>
              </a:rPr>
              <a:t>WHERE fecha_fin BETWEEN hoy AND hoy+30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474720" cy="1188720"/>
          </a:xfrm>
          <a:prstGeom prst="roundRect">
            <a:avLst/>
          </a:prstGeom>
          <a:solidFill>
            <a:srgbClr val="D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Ingresos mensuales</a:t>
            </a:r>
          </a:p>
          <a:p>
            <a:pPr algn="ctr"/>
            <a:r>
              <a:rPr sz="1200">
                <a:solidFill>
                  <a:srgbClr val="4A4A6A"/>
                </a:solidFill>
                <a:latin typeface="Calibri"/>
              </a:rPr>
              <a:t>SUM(monto_mensual) WHERE activo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926080"/>
            <a:ext cx="3474720" cy="1188720"/>
          </a:xfrm>
          <a:prstGeom prst="roundRect">
            <a:avLst/>
          </a:prstGeom>
          <a:solidFill>
            <a:srgbClr val="D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Contratos + Cliente</a:t>
            </a:r>
          </a:p>
          <a:p>
            <a:pPr algn="ctr"/>
            <a:r>
              <a:rPr sz="1200">
                <a:solidFill>
                  <a:srgbClr val="4A4A6A"/>
                </a:solidFill>
                <a:latin typeface="Calibri"/>
              </a:rPr>
              <a:t>JOIN para datos completos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926080"/>
            <a:ext cx="3474720" cy="1188720"/>
          </a:xfrm>
          <a:prstGeom prst="roundRect">
            <a:avLst/>
          </a:prstGeom>
          <a:solidFill>
            <a:srgbClr val="D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Incidencias abiertas</a:t>
            </a:r>
          </a:p>
          <a:p>
            <a:pPr algn="ctr"/>
            <a:r>
              <a:rPr sz="1200">
                <a:solidFill>
                  <a:srgbClr val="4A4A6A"/>
                </a:solidFill>
                <a:latin typeface="Calibri"/>
              </a:rPr>
              <a:t>COUNT WHERE estado != cerrado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A4A6A"/>
                </a:solidFill>
                <a:latin typeface="Calibri"/>
              </a:rPr>
              <a:t>Todas implementadas con SQLAlchemy ORM + funciones de agregación de MySQL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Sprint 2 — Documentación de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A4A6A"/>
                </a:solidFill>
                <a:latin typeface="Calibri"/>
              </a:rPr>
              <a:t>Swagger UI — Documentación interactiva generada automáticamente por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45 endpoints documentados con schemas de request/response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Pruebas interactivas desde el navegador en /docs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Exportable a Postman: File → Import → tecnorenta_openapi.json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Cobertura: Auth, Usuarios, Roles, Activos, Contratos, Pagos, Dashboard + más</a:t>
            </a:r>
          </a:p>
        </p:txBody>
      </p:sp>
      <p:pic>
        <p:nvPicPr>
          <p:cNvPr id="8" name="Picture 7" descr="swagger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931920"/>
            <a:ext cx="9144000" cy="42338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Scrum — Organización del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9144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Product Owner
Define prioridades y valida entregables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463040"/>
            <a:ext cx="3474720" cy="9144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Scrum Master
Facilita ceremonias y elimina bloqueos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463040"/>
            <a:ext cx="3474720" cy="9144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 Team (4)
Desarrolla los incrementos del 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Sprint Planning: definición de objetivos y tareas del sprint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Daily Standup: reunión diaria de 15 min para sincronizar avances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Sprint Review: presentación de resultados al Product Owner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Retrospectiva: mejora continua (Start / Stop / Continue)</a:t>
            </a:r>
          </a:p>
        </p:txBody>
      </p:sp>
      <p:pic>
        <p:nvPicPr>
          <p:cNvPr id="10" name="Picture 9" descr="burndow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3931920"/>
            <a:ext cx="5486400" cy="34058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Sprint 3 — Lo que viene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2E"/>
                </a:solidFill>
                <a:latin typeface="Calibri"/>
              </a:rPr>
              <a:t>Sprint Goal 3: Dashboard avanzado con 5+ KPIs gráficos, pruebas de integración (10+ casos) y preparación para despliegue.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Dashboard avanzado: </a:t>
            </a:r>
            <a:r>
              <a:rPr sz="1600">
                <a:solidFill>
                  <a:srgbClr val="1A1A2E"/>
                </a:solidFill>
                <a:latin typeface="Calibri"/>
              </a:rPr>
              <a:t>Nuevos KPIs gráficos con Recharts, filtros por rango de fechas, exportación de reportes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Pruebas de integración: </a:t>
            </a:r>
            <a:r>
              <a:rPr sz="1600">
                <a:solidFill>
                  <a:srgbClr val="1A1A2E"/>
                </a:solidFill>
                <a:latin typeface="Calibri"/>
              </a:rPr>
              <a:t>10+ casos probando flujos completos (backend + frontend)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Despliegue: </a:t>
            </a:r>
            <a:r>
              <a:rPr sz="1600">
                <a:solidFill>
                  <a:srgbClr val="1A1A2E"/>
                </a:solidFill>
                <a:latin typeface="Calibri"/>
              </a:rPr>
              <a:t>Preparación para producción: variables de entorno, CORS, build optimizado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  Mejoras: </a:t>
            </a:r>
            <a:r>
              <a:rPr sz="1600">
                <a:solidFill>
                  <a:srgbClr val="1A1A2E"/>
                </a:solidFill>
                <a:latin typeface="Calibri"/>
              </a:rPr>
              <a:t>Notificaciones de contratos próximos a vencer, optimización de consultas SQL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Sprint 2 — Sistema en Funcionamiento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ctivos_l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303520" cy="2455640"/>
          </a:xfrm>
          <a:prstGeom prst="rect">
            <a:avLst/>
          </a:prstGeom>
        </p:spPr>
      </p:pic>
      <p:pic>
        <p:nvPicPr>
          <p:cNvPr id="7" name="Picture 6" descr="activos_formul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303520" cy="2455640"/>
          </a:xfrm>
          <a:prstGeom prst="rect">
            <a:avLst/>
          </a:prstGeom>
        </p:spPr>
      </p:pic>
      <p:pic>
        <p:nvPicPr>
          <p:cNvPr id="8" name="Picture 7" descr="pagos_lis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23360"/>
            <a:ext cx="5303520" cy="2455640"/>
          </a:xfrm>
          <a:prstGeom prst="rect">
            <a:avLst/>
          </a:prstGeom>
        </p:spPr>
      </p:pic>
      <p:pic>
        <p:nvPicPr>
          <p:cNvPr id="9" name="Picture 8" descr="asignaciones_lis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23360"/>
            <a:ext cx="5303520" cy="2455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  Sprint Goal: Construir un sistema web funcional para la gestión y trazabilidad de activos rentados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88952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4A01E"/>
                </a:solidFill>
                <a:latin typeface="Calibri"/>
              </a:rPr>
              <a:t>SIGTAR — Tecnorenta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ABBDD"/>
                </a:solidFill>
                <a:latin typeface="Calibri"/>
              </a:rPr>
              <a:t>Sprint 1 &amp; 2 completados • Sprint 3 en marcha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1332</Words>
  <Application>Microsoft Office PowerPoint</Application>
  <PresentationFormat>Personalizado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</cp:lastModifiedBy>
  <cp:revision>1</cp:revision>
  <dcterms:created xsi:type="dcterms:W3CDTF">2013-01-27T09:14:16Z</dcterms:created>
  <dcterms:modified xsi:type="dcterms:W3CDTF">2026-06-29T14:46:26Z</dcterms:modified>
  <cp:category/>
</cp:coreProperties>
</file>